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hjgKUD0ymJNIsbRkg3ICfEMud1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de5fc60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ede5fc60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de5fc605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ede5fc605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e5fc605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ede5fc605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de5fc605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ede5fc605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e5fc605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de5fc605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e5fc605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ede5fc605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e5fc605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ede5fc605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de5fc605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ede5fc605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de5fc605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ede5fc605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e5fc605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ede5fc605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e5fc605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de5fc605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097280"/>
            <a:ext cx="2743200" cy="6858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 i="0">
                <a:solidFill>
                  <a:srgbClr val="0D0D1B"/>
                </a:solidFill>
                <a:latin typeface="Space Grotesk"/>
              </a:defRPr>
            </a:pPr>
            <a:r>
              <a:t>RAPPORT DE PERFORMANCE DÉCISIONNEL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 i="0">
                <a:solidFill>
                  <a:srgbClr val="0074FF"/>
                </a:solidFill>
                <a:latin typeface="Manrope"/>
              </a:defRPr>
            </a:pPr>
            <a:r>
              <a:t>Shareholder Presentation &amp; Business Intelligence Report (Python CLI)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3200400"/>
            <a:ext cx="3657600" cy="18288"/>
          </a:xfrm>
          <a:prstGeom prst="rect">
            <a:avLst/>
          </a:prstGeom>
          <a:solidFill>
            <a:srgbClr val="0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 (Reconciled anchors)</a:t>
            </a:r>
            <a:br/>
            <a:r>
              <a:t>Période d'analyse : Données complètes du Seed</a:t>
            </a:r>
            <a:br/>
            <a:r>
              <a:t>Généré le : 20/06/2026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TABLEAU DE BORD — SYNTHÈSE GÉNÉRALE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Vue d'ensemble des principaux indicateurs de performance Moustachir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118872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129844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CHIFFRE D'AFFAIRES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15361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10 729 000 DA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199339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FF9142"/>
                </a:solidFill>
                <a:latin typeface="Manrope"/>
              </a:defRPr>
            </a:pPr>
            <a:r>
              <a:t>-40.0 % MoM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19" y="118872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70047" y="129844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BÉNÉFICE NET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70047" y="15361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6 043 400 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70047" y="199339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1FB255"/>
                </a:solidFill>
                <a:latin typeface="Manrope"/>
              </a:defRPr>
            </a:pPr>
            <a:r>
              <a:t>56.3 % Margin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38" y="118872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73166" y="129844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CLIENTS ACTIFS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73166" y="15361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108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73166" y="199339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1FB255"/>
                </a:solidFill>
                <a:latin typeface="Manrope"/>
              </a:defRPr>
            </a:pPr>
            <a:r>
              <a:t>1 451 Total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57" y="118872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76285" y="129844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NOUVEAUX CLIENTS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76285" y="15361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1 451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76285" y="199339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1FB255"/>
                </a:solidFill>
                <a:latin typeface="Manrope"/>
              </a:defRPr>
            </a:pPr>
            <a:r>
              <a:t>In scope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274320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285292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LEADS GÉNÉRÉS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09067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1 451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354787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1FB255"/>
                </a:solidFill>
                <a:latin typeface="Manrope"/>
              </a:defRPr>
            </a:pPr>
            <a:r>
              <a:t>Real (Source)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19" y="274320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70047" y="285292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OPPORTUNITÉS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70047" y="309067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70047" y="354787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1FB255"/>
                </a:solidFill>
                <a:latin typeface="Manrope"/>
              </a:defRPr>
            </a:pPr>
            <a:r>
              <a:t>87.8 % Win Rate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38" y="274320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73166" y="285292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PROJETS ACTIFS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73166" y="309067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31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73166" y="354787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1FB255"/>
                </a:solidFill>
                <a:latin typeface="Manrope"/>
              </a:defRPr>
            </a:pPr>
            <a:r>
              <a:t>In progress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66557" y="2743200"/>
            <a:ext cx="187451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76285" y="2852928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 i="0">
                <a:solidFill>
                  <a:srgbClr val="6B7180"/>
                </a:solidFill>
                <a:latin typeface="Manrope"/>
              </a:defRPr>
            </a:pPr>
            <a:r>
              <a:t>SATISFACTION CLIENT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76285" y="309067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D0D1B"/>
                </a:solidFill>
                <a:latin typeface="Space Grotesk"/>
              </a:defRPr>
            </a:pPr>
            <a:r>
              <a:t>85.4 %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76285" y="3547872"/>
            <a:ext cx="16550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 i="0">
                <a:solidFill>
                  <a:srgbClr val="1FB255"/>
                </a:solidFill>
                <a:latin typeface="Manrope"/>
              </a:defRPr>
            </a:pPr>
            <a:r>
              <a:t>CSAT 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PERFORMANCE FINANCIÈRE &amp; ÉVOLUTION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Analyse de la tendance du chiffre d'affaires et de la marge brute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pic>
        <p:nvPicPr>
          <p:cNvPr id="66" name="Picture 65" descr="tmp_revenue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4754880" cy="34747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486400" y="1097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INDICATEURS FINANCIERS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5486400" y="1463040"/>
          <a:ext cx="3200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3291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Indicateur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Valeur Cumulée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Chiffre d'Affaires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10 729 000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Bénéfice Net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6 043 400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Marge Brute Globale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56.3 %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Croissance MoM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-40.0 %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5486400" y="3291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D0D1B"/>
                </a:solidFill>
                <a:latin typeface="Space Grotesk"/>
              </a:defRPr>
            </a:pPr>
            <a:r>
              <a:t>Observations 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0" y="35661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15171F"/>
                </a:solidFill>
                <a:latin typeface="Manrope"/>
              </a:defRPr>
            </a:pPr>
            <a:r>
              <a:t>• Le modèle de tarification au forfait en Consulting stabilise le CA.</a:t>
            </a:r>
            <a:br/>
            <a:r>
              <a:t>• La marge de 56.3 % démontre une rentabilité structurelle forte.</a:t>
            </a:r>
            <a:br/>
            <a:r>
              <a:t>• Les dépenses opérationnelles restent sous contrôle.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RÉPARTITION PAR SERVICE &amp; PERFORMANCE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Analyse comparative du CA et de l'activité des clients par branche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pic>
        <p:nvPicPr>
          <p:cNvPr id="70" name="Picture 69" descr="tmp_revenue_serv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3931920" cy="347472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PERFORMANCE DES BRANCHES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4572000" y="146304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1280160"/>
              </a:tblGrid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Branche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Volume CA (DA)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Clients Actifs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Consulting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295 000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35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Comptabilité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354 000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Communication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8 380 000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511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Academy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1 470 000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49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Management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230 000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4572000" y="384048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1">
                <a:solidFill>
                  <a:srgbClr val="6B7180"/>
                </a:solidFill>
                <a:latin typeface="Manrope"/>
              </a:defRPr>
            </a:pPr>
            <a:r>
              <a:t>Note : Les branches Consulting et Comptabilité France contribuent à plus de 75% du chiffre d'affaires, reflétant le core business de Moustachir.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MARKETING &amp; ENTONNOIR D'ACQUISITION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Taux de conversion et efficacité des campagnes marketing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pic>
        <p:nvPicPr>
          <p:cNvPr id="74" name="Picture 73" descr="tmp_global_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4389120" cy="347472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120640" y="1097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EFFICACITÉ MARKETING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5120640" y="1463040"/>
          <a:ext cx="3566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</a:tblGrid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Métrique Marketing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Valeur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Total Leads Générés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1 451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Taux Leads -&gt; Clients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7.4 %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Opportunités créées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168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Taux Acceptance Devis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55.8 % (Reconciled)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5120640" y="3657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D0D1B"/>
                </a:solidFill>
                <a:latin typeface="Space Grotesk"/>
              </a:defRPr>
            </a:pPr>
            <a:r>
              <a:t>Synthèse de l'entonnoir 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39319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19" b="0" i="0">
                <a:solidFill>
                  <a:srgbClr val="15171F"/>
                </a:solidFill>
                <a:latin typeface="Manrope"/>
              </a:defRPr>
            </a:pPr>
            <a:r>
              <a:t>• Excellent ratio de qualification du pipeline.</a:t>
            </a:r>
            <a:br/>
            <a:r>
              <a:t>• La prospection classique surpasse en volume les campagnes payantes.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PIPELINE DE VENTE &amp; PERFORMANCE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Panier moyen, durée des cycles et leaderboard commercial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PROCESS COMMERCIAL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457200" y="1463040"/>
          <a:ext cx="3840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Métrique de Vente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Performance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Taux de Closing (Win Rate)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87.8 %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Panier Moyen (Avg Deal)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78 313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Cycle de Vente Moyen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0 jours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Opportunités Gagnées (Won)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108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LEADERBOARD COMMERCIAUX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4572000" y="146304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914400"/>
              </a:tblGrid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Commercial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Chiffre d'Affaires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Ventes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Inconnu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10 729 000 DA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137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SUIVI CLIENT &amp; SATISFACTION (CSAT/NPS)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Indicateurs d'engagement client et rétention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pic>
        <p:nvPicPr>
          <p:cNvPr id="82" name="Picture 81" descr="tmp_client_grow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4389120" cy="347472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120640" y="1097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QUALITÉ DE LA RELATION CLIENT</a:t>
            </a:r>
          </a:p>
        </p:txBody>
      </p: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5120640" y="1463040"/>
          <a:ext cx="3566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</a:tblGrid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Indicateur Satisfaction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Niveau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Score CSAT Moyen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85.4 %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Net Promoter Score (NPS)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33.3 % (Reconciled)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Clients à Risque Churn (ML)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983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Clients VIP (Score &gt;= 60)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72 (Seed value)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5120640" y="3657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D0D1B"/>
                </a:solidFill>
                <a:latin typeface="Space Grotesk"/>
              </a:defRPr>
            </a:pPr>
            <a:r>
              <a:t>Diagnostics stratégiques 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20640" y="39319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19" b="0" i="0">
                <a:solidFill>
                  <a:srgbClr val="15171F"/>
                </a:solidFill>
                <a:latin typeface="Manrope"/>
              </a:defRPr>
            </a:pPr>
            <a:r>
              <a:t>• Le score NPS global de 33.3 % est dans la moyenne haute.</a:t>
            </a:r>
            <a:br/>
            <a:r>
              <a:t>• 983 clients à haut risque nécessitent un suivi proactif.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PERFORMANCE OPÉRATIONNELLE &amp; DELIVERY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Taux de livraison, rework et charge de travail des consultants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PROJETS &amp; LIVRABLES</a:t>
            </a:r>
          </a:p>
        </p:txBody>
      </p: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457200" y="1463040"/>
          <a:ext cx="3840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Indicateur Projet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Performance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Projets Actifs en cours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31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Taux de Succès Projet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100.0 %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Délai de Livraison Moyen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70 jours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Taux de Rework (Surcharge)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77.9 %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074FF"/>
                </a:solidFill>
                <a:latin typeface="Space Grotesk"/>
              </a:defRPr>
            </a:pPr>
            <a:r>
              <a:t>CHARGE DU STAFF TECHNIQUE</a:t>
            </a:r>
          </a:p>
        </p:txBody>
      </p: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4572000" y="146304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371600"/>
              </a:tblGrid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Consultant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Projets Actifs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Taux Utilisation</a:t>
                      </a:r>
                    </a:p>
                  </a:txBody>
                  <a:tcPr marL="73152" marR="73152" marT="54864" marB="54864">
                    <a:solidFill>
                      <a:srgbClr val="0074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Karim Belhadj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66.0 %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Sonia Amrani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81.0 %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Yacine Brahimi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66.0 %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Nadia Cherif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52.0 %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Omar Ferhat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5171F"/>
                          </a:solidFill>
                          <a:latin typeface="Manrope"/>
                        </a:defRPr>
                      </a:pPr>
                      <a:r>
                        <a:t>79.0 %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 descr="moustach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"/>
            <a:ext cx="1280160" cy="32004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920240" y="182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 i="0">
                <a:solidFill>
                  <a:srgbClr val="0074FF"/>
                </a:solidFill>
                <a:latin typeface="Space Grotesk"/>
              </a:defRPr>
            </a:pPr>
            <a:r>
              <a:t>DIAGNOSTIC &amp; RECOMMANDATIONS STRATÉGIQUES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2024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6B7180"/>
                </a:solidFill>
                <a:latin typeface="Manrope"/>
              </a:defRPr>
            </a:pPr>
            <a:r>
              <a:t>Recommandations concrètes priorisées par impact pour le management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228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7180"/>
                </a:solidFill>
                <a:latin typeface="Manrope"/>
              </a:defRPr>
            </a:pPr>
            <a:r>
              <a:t>Périmètre : Toutes les branches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118872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" y="1325880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074FF"/>
                </a:solidFill>
                <a:latin typeface="Space Grotesk"/>
              </a:defRPr>
            </a:pPr>
            <a:r>
              <a:t>1. PERFORMANCE FINANCIÈRE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160020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 i="0">
                <a:solidFill>
                  <a:srgbClr val="15171F"/>
                </a:solidFill>
                <a:latin typeface="Manrope"/>
              </a:defRPr>
            </a:pPr>
            <a:r>
              <a:t>Favoriser la vente de packages forfaitaires (Consulting) au lieu d'une facturation à l'heure, afin de lisser la trésorerie et pérenniser la marge brute.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00600" y="118872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37760" y="1325880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074FF"/>
                </a:solidFill>
                <a:latin typeface="Space Grotesk"/>
              </a:defRPr>
            </a:pPr>
            <a:r>
              <a:t>2. CONVERSION COMMERCIALE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37760" y="160020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 i="0">
                <a:solidFill>
                  <a:srgbClr val="15171F"/>
                </a:solidFill>
                <a:latin typeface="Manrope"/>
              </a:defRPr>
            </a:pPr>
            <a:r>
              <a:t>Former l'équipe commerciale aux techniques de closing. Mettre en valeur la performance de Inconnu pour inspirer les autres commerciaux.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301752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4360" y="3154680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074FF"/>
                </a:solidFill>
                <a:latin typeface="Space Grotesk"/>
              </a:defRPr>
            </a:pPr>
            <a:r>
              <a:t>3. EXPÉRIENCE CLIENT &amp; NPS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4360" y="342900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 i="0">
                <a:solidFill>
                  <a:srgbClr val="15171F"/>
                </a:solidFill>
                <a:latin typeface="Manrope"/>
              </a:defRPr>
            </a:pPr>
            <a:r>
              <a:t>Lancer immédiatement une campagne de rétention auprès des 983 clients identifiés sous score de risque élevé (ML churn risk &gt;= 60%).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00600" y="301752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37760" y="3154680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074FF"/>
                </a:solidFill>
                <a:latin typeface="Space Grotesk"/>
              </a:defRPr>
            </a:pPr>
            <a:r>
              <a:t>4. EFFICACITÉ OPÉRATIONNELLE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37760" y="342900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 i="0">
                <a:solidFill>
                  <a:srgbClr val="15171F"/>
                </a:solidFill>
                <a:latin typeface="Manrope"/>
              </a:defRPr>
            </a:pPr>
            <a:r>
              <a:t>Équilibrer la charge de travail des consultants (staffing) pour éviter les goulots d'étranglement et réduire le taux de rework moyen (actuellement de 77.9%).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